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1"/>
  </p:sldMasterIdLst>
  <p:sldIdLst>
    <p:sldId id="256" r:id="rId2"/>
    <p:sldId id="257" r:id="rId3"/>
    <p:sldId id="258" r:id="rId4"/>
    <p:sldId id="260" r:id="rId5"/>
    <p:sldId id="259"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6/9/2020</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5963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149144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18160" y="-1"/>
            <a:ext cx="11155680" cy="2073729"/>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rot="5400000">
            <a:off x="6057315" y="-4459095"/>
            <a:ext cx="77369" cy="121920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234496"/>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1782374"/>
            <a:ext cx="10168128" cy="4389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6/9/2020</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74336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6/9/2020</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97414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6/9/2020</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51608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6/9/2020</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98737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6/9/2020</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29702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6/9/2020</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06157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6/9/2020</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5432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6/9/2020</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55498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6/9/2020</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42379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6/9/2020</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28275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6/9/2020</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429933655"/>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2" r:id="rId6"/>
    <p:sldLayoutId id="2147483798" r:id="rId7"/>
    <p:sldLayoutId id="2147483799" r:id="rId8"/>
    <p:sldLayoutId id="2147483800" r:id="rId9"/>
    <p:sldLayoutId id="2147483801"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reneeslimousines.com/tours/brewery-tours/" TargetMode="External"/><Relationship Id="rId4" Type="http://schemas.openxmlformats.org/officeDocument/2006/relationships/hyperlink" Target="https://www.mprnews.org/story/2019/05/15/taproom-beer-minnesota-growth-surly"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ww.zipcodestogo.com/Minneso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able, indoor, food, sitting&#10;&#10;Description automatically generated">
            <a:extLst>
              <a:ext uri="{FF2B5EF4-FFF2-40B4-BE49-F238E27FC236}">
                <a16:creationId xmlns:a16="http://schemas.microsoft.com/office/drawing/2014/main" id="{2561307B-57D3-4E66-AB86-DD9A45A7FE1E}"/>
              </a:ext>
            </a:extLst>
          </p:cNvPr>
          <p:cNvPicPr>
            <a:picLocks noChangeAspect="1"/>
          </p:cNvPicPr>
          <p:nvPr/>
        </p:nvPicPr>
        <p:blipFill rotWithShape="1">
          <a:blip r:embed="rId2">
            <a:extLst>
              <a:ext uri="{28A0092B-C50C-407E-A947-70E740481C1C}">
                <a14:useLocalDpi xmlns:a14="http://schemas.microsoft.com/office/drawing/2010/main" val="0"/>
              </a:ext>
            </a:extLst>
          </a:blip>
          <a:srcRect t="23391" r="9091"/>
          <a:stretch/>
        </p:blipFill>
        <p:spPr>
          <a:xfrm>
            <a:off x="20" y="10"/>
            <a:ext cx="12191981" cy="6857990"/>
          </a:xfrm>
          <a:prstGeom prst="rect">
            <a:avLst/>
          </a:prstGeom>
        </p:spPr>
      </p:pic>
      <p:sp>
        <p:nvSpPr>
          <p:cNvPr id="29" name="Rectangle 28">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C460A4F-74B0-43A7-AF7F-E4042D537BA7}"/>
              </a:ext>
            </a:extLst>
          </p:cNvPr>
          <p:cNvSpPr>
            <a:spLocks noGrp="1"/>
          </p:cNvSpPr>
          <p:nvPr>
            <p:ph type="ctrTitle"/>
          </p:nvPr>
        </p:nvSpPr>
        <p:spPr>
          <a:xfrm>
            <a:off x="404553" y="3091928"/>
            <a:ext cx="9078562" cy="2387600"/>
          </a:xfrm>
        </p:spPr>
        <p:txBody>
          <a:bodyPr>
            <a:normAutofit/>
          </a:bodyPr>
          <a:lstStyle/>
          <a:p>
            <a:r>
              <a:rPr lang="en-US" sz="6600" dirty="0"/>
              <a:t>What’s the best place for the next brewery?</a:t>
            </a:r>
          </a:p>
        </p:txBody>
      </p:sp>
      <p:sp>
        <p:nvSpPr>
          <p:cNvPr id="31" name="Rectangle: Rounded Corners 30">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81E6EB8-63E0-4474-AFCF-6F4B1D21CC37}"/>
              </a:ext>
            </a:extLst>
          </p:cNvPr>
          <p:cNvSpPr>
            <a:spLocks noGrp="1"/>
          </p:cNvSpPr>
          <p:nvPr>
            <p:ph type="subTitle" idx="1"/>
          </p:nvPr>
        </p:nvSpPr>
        <p:spPr>
          <a:xfrm>
            <a:off x="404553" y="5624945"/>
            <a:ext cx="9078562" cy="592975"/>
          </a:xfrm>
        </p:spPr>
        <p:txBody>
          <a:bodyPr anchor="ctr">
            <a:normAutofit fontScale="85000" lnSpcReduction="10000"/>
          </a:bodyPr>
          <a:lstStyle/>
          <a:p>
            <a:pPr>
              <a:lnSpc>
                <a:spcPct val="100000"/>
              </a:lnSpc>
            </a:pPr>
            <a:r>
              <a:rPr lang="en-US" dirty="0"/>
              <a:t>Panagiota Kyriakou, June 2020	IBM Data Science capstone</a:t>
            </a:r>
          </a:p>
        </p:txBody>
      </p:sp>
    </p:spTree>
    <p:extLst>
      <p:ext uri="{BB962C8B-B14F-4D97-AF65-F5344CB8AC3E}">
        <p14:creationId xmlns:p14="http://schemas.microsoft.com/office/powerpoint/2010/main" val="192325257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3857"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784EF4-4985-4257-A27B-21091D8800AD}"/>
              </a:ext>
            </a:extLst>
          </p:cNvPr>
          <p:cNvSpPr>
            <a:spLocks noGrp="1"/>
          </p:cNvSpPr>
          <p:nvPr>
            <p:ph type="title"/>
          </p:nvPr>
        </p:nvSpPr>
        <p:spPr>
          <a:xfrm>
            <a:off x="5359510" y="978619"/>
            <a:ext cx="5991244" cy="1106424"/>
          </a:xfrm>
        </p:spPr>
        <p:txBody>
          <a:bodyPr>
            <a:normAutofit/>
          </a:bodyPr>
          <a:lstStyle/>
          <a:p>
            <a:r>
              <a:rPr lang="en-US" sz="3200" dirty="0"/>
              <a:t>Business Case</a:t>
            </a:r>
          </a:p>
        </p:txBody>
      </p:sp>
      <p:pic>
        <p:nvPicPr>
          <p:cNvPr id="7" name="Graphic 6" descr="Beer">
            <a:extLst>
              <a:ext uri="{FF2B5EF4-FFF2-40B4-BE49-F238E27FC236}">
                <a16:creationId xmlns:a16="http://schemas.microsoft.com/office/drawing/2014/main" id="{21E0A911-66A2-434F-9C76-5AE8369E34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528" y="1361884"/>
            <a:ext cx="4033647" cy="4033647"/>
          </a:xfrm>
          <a:prstGeom prst="rect">
            <a:avLst/>
          </a:prstGeom>
        </p:spPr>
      </p:pic>
      <p:sp>
        <p:nvSpPr>
          <p:cNvPr id="32" name="Rectangle 31">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9848"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3">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859"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FD676E1-EFA1-4EFD-B2B8-34E77D3083FA}"/>
              </a:ext>
            </a:extLst>
          </p:cNvPr>
          <p:cNvSpPr>
            <a:spLocks noGrp="1"/>
          </p:cNvSpPr>
          <p:nvPr>
            <p:ph idx="1"/>
          </p:nvPr>
        </p:nvSpPr>
        <p:spPr>
          <a:xfrm>
            <a:off x="5356861" y="2252870"/>
            <a:ext cx="5993892" cy="3560251"/>
          </a:xfrm>
        </p:spPr>
        <p:txBody>
          <a:bodyPr>
            <a:normAutofit lnSpcReduction="10000"/>
          </a:bodyPr>
          <a:lstStyle/>
          <a:p>
            <a:pPr marL="0" indent="0">
              <a:buNone/>
            </a:pPr>
            <a:r>
              <a:rPr lang="en-US" sz="2400" b="1" dirty="0"/>
              <a:t>Business Goal</a:t>
            </a:r>
            <a:r>
              <a:rPr lang="en-US" sz="2400" dirty="0"/>
              <a:t>: Identify candidate cities in the Twin Cities metro area (Minnesota) for a new brewery </a:t>
            </a:r>
          </a:p>
          <a:p>
            <a:pPr marL="0" indent="0">
              <a:buNone/>
            </a:pPr>
            <a:r>
              <a:rPr lang="en-US" sz="2400" b="1" dirty="0"/>
              <a:t>Audience</a:t>
            </a:r>
            <a:r>
              <a:rPr lang="en-US" sz="2400" dirty="0"/>
              <a:t>: This report can be used by an investor in the metro area or the brewery market to inform their decision and limit the number of cities they will investigate further as potential brewery location candidates.</a:t>
            </a:r>
          </a:p>
        </p:txBody>
      </p:sp>
    </p:spTree>
    <p:extLst>
      <p:ext uri="{BB962C8B-B14F-4D97-AF65-F5344CB8AC3E}">
        <p14:creationId xmlns:p14="http://schemas.microsoft.com/office/powerpoint/2010/main" val="240586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rewery Tour Map">
            <a:extLst>
              <a:ext uri="{FF2B5EF4-FFF2-40B4-BE49-F238E27FC236}">
                <a16:creationId xmlns:a16="http://schemas.microsoft.com/office/drawing/2014/main" id="{0E9237D7-2458-4EDE-9972-F308546942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556" r="-2" b="14852"/>
          <a:stretch/>
        </p:blipFill>
        <p:spPr bwMode="auto">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73" name="Freeform: Shape 72">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Freeform: Shape 74">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1ABE4DE-969D-403F-B2A4-8F598986FF2D}"/>
              </a:ext>
            </a:extLst>
          </p:cNvPr>
          <p:cNvSpPr>
            <a:spLocks noGrp="1"/>
          </p:cNvSpPr>
          <p:nvPr>
            <p:ph type="title"/>
          </p:nvPr>
        </p:nvSpPr>
        <p:spPr>
          <a:xfrm>
            <a:off x="438913" y="859536"/>
            <a:ext cx="4832802" cy="1243584"/>
          </a:xfrm>
        </p:spPr>
        <p:txBody>
          <a:bodyPr>
            <a:normAutofit/>
          </a:bodyPr>
          <a:lstStyle/>
          <a:p>
            <a:r>
              <a:rPr lang="en-US" sz="3400" dirty="0"/>
              <a:t>Background</a:t>
            </a:r>
          </a:p>
        </p:txBody>
      </p:sp>
      <p:sp>
        <p:nvSpPr>
          <p:cNvPr id="77" name="Rectangle 7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015DD36-712C-4DB4-ABF6-5AA68CAEF9E8}"/>
              </a:ext>
            </a:extLst>
          </p:cNvPr>
          <p:cNvSpPr>
            <a:spLocks noGrp="1"/>
          </p:cNvSpPr>
          <p:nvPr>
            <p:ph idx="1"/>
          </p:nvPr>
        </p:nvSpPr>
        <p:spPr>
          <a:xfrm>
            <a:off x="438912" y="2512611"/>
            <a:ext cx="4832803" cy="3664351"/>
          </a:xfrm>
        </p:spPr>
        <p:txBody>
          <a:bodyPr>
            <a:normAutofit/>
          </a:bodyPr>
          <a:lstStyle/>
          <a:p>
            <a:pPr marL="0" indent="0">
              <a:buNone/>
            </a:pPr>
            <a:r>
              <a:rPr lang="en-US" sz="2000" dirty="0"/>
              <a:t>The brewery market in the Twin Cities has experienced a boost over the last decade. </a:t>
            </a:r>
          </a:p>
          <a:p>
            <a:pPr marL="0" indent="0">
              <a:buNone/>
            </a:pPr>
            <a:r>
              <a:rPr lang="en-US" sz="2000" dirty="0"/>
              <a:t>Breweries are popping up across the metro area.</a:t>
            </a:r>
          </a:p>
          <a:p>
            <a:pPr marL="0" indent="0">
              <a:buNone/>
            </a:pPr>
            <a:r>
              <a:rPr lang="en-US" sz="2000" dirty="0"/>
              <a:t>However there are still less breweries per capita than other cities in the US which implies that there is room for new breweries.</a:t>
            </a:r>
          </a:p>
        </p:txBody>
      </p:sp>
      <p:pic>
        <p:nvPicPr>
          <p:cNvPr id="17" name="Picture 16">
            <a:extLst>
              <a:ext uri="{FF2B5EF4-FFF2-40B4-BE49-F238E27FC236}">
                <a16:creationId xmlns:a16="http://schemas.microsoft.com/office/drawing/2014/main" id="{20EBDAA1-96AD-4957-B308-2F31D899810C}"/>
              </a:ext>
            </a:extLst>
          </p:cNvPr>
          <p:cNvPicPr>
            <a:picLocks noChangeAspect="1"/>
          </p:cNvPicPr>
          <p:nvPr/>
        </p:nvPicPr>
        <p:blipFill>
          <a:blip r:embed="rId3"/>
          <a:stretch>
            <a:fillRect/>
          </a:stretch>
        </p:blipFill>
        <p:spPr>
          <a:xfrm>
            <a:off x="6087333" y="3381500"/>
            <a:ext cx="6104666" cy="3235860"/>
          </a:xfrm>
          <a:prstGeom prst="rect">
            <a:avLst/>
          </a:prstGeom>
        </p:spPr>
      </p:pic>
      <p:sp>
        <p:nvSpPr>
          <p:cNvPr id="6" name="Rectangle 5">
            <a:extLst>
              <a:ext uri="{FF2B5EF4-FFF2-40B4-BE49-F238E27FC236}">
                <a16:creationId xmlns:a16="http://schemas.microsoft.com/office/drawing/2014/main" id="{944AEC74-64F7-4524-845C-ED92D524B261}"/>
              </a:ext>
            </a:extLst>
          </p:cNvPr>
          <p:cNvSpPr/>
          <p:nvPr/>
        </p:nvSpPr>
        <p:spPr>
          <a:xfrm>
            <a:off x="64008" y="6386676"/>
            <a:ext cx="6096000" cy="261610"/>
          </a:xfrm>
          <a:prstGeom prst="rect">
            <a:avLst/>
          </a:prstGeom>
        </p:spPr>
        <p:txBody>
          <a:bodyPr>
            <a:spAutoFit/>
          </a:bodyPr>
          <a:lstStyle/>
          <a:p>
            <a:r>
              <a:rPr lang="en-US" sz="1100">
                <a:hlinkClick r:id="rId4"/>
              </a:rPr>
              <a:t>https://www.mprnews.org/story/2019/05/15/taproom-beer-minnesota-growth-surly</a:t>
            </a:r>
            <a:endParaRPr lang="en-US" sz="1100" dirty="0"/>
          </a:p>
        </p:txBody>
      </p:sp>
      <p:sp>
        <p:nvSpPr>
          <p:cNvPr id="7" name="Rectangle 6">
            <a:extLst>
              <a:ext uri="{FF2B5EF4-FFF2-40B4-BE49-F238E27FC236}">
                <a16:creationId xmlns:a16="http://schemas.microsoft.com/office/drawing/2014/main" id="{DA3DFB0F-50AE-4093-B9B4-31B746F5D057}"/>
              </a:ext>
            </a:extLst>
          </p:cNvPr>
          <p:cNvSpPr/>
          <p:nvPr/>
        </p:nvSpPr>
        <p:spPr>
          <a:xfrm>
            <a:off x="64008" y="6571193"/>
            <a:ext cx="3785652" cy="276999"/>
          </a:xfrm>
          <a:prstGeom prst="rect">
            <a:avLst/>
          </a:prstGeom>
        </p:spPr>
        <p:txBody>
          <a:bodyPr wrap="none">
            <a:spAutoFit/>
          </a:bodyPr>
          <a:lstStyle/>
          <a:p>
            <a:r>
              <a:rPr lang="en-US" sz="1200" dirty="0">
                <a:hlinkClick r:id="rId5"/>
              </a:rPr>
              <a:t>https://reneeslimousines.com/tours/brewery-tours/</a:t>
            </a:r>
            <a:endParaRPr lang="en-US" sz="1200" dirty="0"/>
          </a:p>
        </p:txBody>
      </p:sp>
    </p:spTree>
    <p:extLst>
      <p:ext uri="{BB962C8B-B14F-4D97-AF65-F5344CB8AC3E}">
        <p14:creationId xmlns:p14="http://schemas.microsoft.com/office/powerpoint/2010/main" val="4269153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7FFC-DF7F-41C2-9CF2-676837A58538}"/>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7190CE09-BF21-4CF0-8DE1-3A09CF22C6ED}"/>
              </a:ext>
            </a:extLst>
          </p:cNvPr>
          <p:cNvSpPr>
            <a:spLocks noGrp="1"/>
          </p:cNvSpPr>
          <p:nvPr>
            <p:ph idx="1"/>
          </p:nvPr>
        </p:nvSpPr>
        <p:spPr/>
        <p:txBody>
          <a:bodyPr/>
          <a:lstStyle/>
          <a:p>
            <a:r>
              <a:rPr lang="en-US" dirty="0"/>
              <a:t>A list of cities from the Twin Cities Metro area were retrieved manually from the website </a:t>
            </a:r>
            <a:r>
              <a:rPr lang="en-US" dirty="0">
                <a:hlinkClick r:id="rId2"/>
              </a:rPr>
              <a:t>https://www.zipcodestogo.com/Minnesota/</a:t>
            </a:r>
            <a:r>
              <a:rPr lang="en-US" dirty="0"/>
              <a:t>, saved to a file and loaded to a dataframe</a:t>
            </a:r>
          </a:p>
          <a:p>
            <a:r>
              <a:rPr lang="en-US" dirty="0"/>
              <a:t>The </a:t>
            </a:r>
            <a:r>
              <a:rPr lang="en-US" dirty="0" err="1"/>
              <a:t>geopy</a:t>
            </a:r>
            <a:r>
              <a:rPr lang="en-US" dirty="0"/>
              <a:t> package was used to retrieve the latitude and longitude coordinates of each city</a:t>
            </a:r>
          </a:p>
          <a:p>
            <a:r>
              <a:rPr lang="en-US" dirty="0"/>
              <a:t>The Foursquare API was used to retrieve the venue data of the cities</a:t>
            </a:r>
          </a:p>
        </p:txBody>
      </p:sp>
    </p:spTree>
    <p:extLst>
      <p:ext uri="{BB962C8B-B14F-4D97-AF65-F5344CB8AC3E}">
        <p14:creationId xmlns:p14="http://schemas.microsoft.com/office/powerpoint/2010/main" val="4069714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B91C7-6E45-464B-AD55-B131239C4C96}"/>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2F90014D-0BCC-4BD2-B1D9-7D11B8B66E2A}"/>
              </a:ext>
            </a:extLst>
          </p:cNvPr>
          <p:cNvSpPr>
            <a:spLocks noGrp="1"/>
          </p:cNvSpPr>
          <p:nvPr>
            <p:ph idx="1"/>
          </p:nvPr>
        </p:nvSpPr>
        <p:spPr/>
        <p:txBody>
          <a:bodyPr>
            <a:normAutofit fontScale="92500" lnSpcReduction="20000"/>
          </a:bodyPr>
          <a:lstStyle/>
          <a:p>
            <a:r>
              <a:rPr lang="en-US" dirty="0"/>
              <a:t>Imported the City data and retrieved their geospatial coordinates. </a:t>
            </a:r>
          </a:p>
          <a:p>
            <a:r>
              <a:rPr lang="en-US" dirty="0"/>
              <a:t>Visualized the data using Folio</a:t>
            </a:r>
          </a:p>
          <a:p>
            <a:r>
              <a:rPr lang="en-US" dirty="0"/>
              <a:t>Used the Foursquare API to retrieve the venues</a:t>
            </a:r>
          </a:p>
          <a:p>
            <a:r>
              <a:rPr lang="en-US" dirty="0"/>
              <a:t>Grouped data by city and took the mean of the frequency of occurrence of each venue category</a:t>
            </a:r>
          </a:p>
          <a:p>
            <a:r>
              <a:rPr lang="en-US" dirty="0"/>
              <a:t>Performed clustering and identifies the cluster with the most breweries</a:t>
            </a:r>
          </a:p>
          <a:p>
            <a:r>
              <a:rPr lang="en-US" dirty="0"/>
              <a:t>Found the cities that were in the cluster but did not have a brewery and visualized all of them using Folio</a:t>
            </a:r>
          </a:p>
          <a:p>
            <a:endParaRPr lang="en-US" dirty="0"/>
          </a:p>
          <a:p>
            <a:endParaRPr lang="en-US" dirty="0"/>
          </a:p>
        </p:txBody>
      </p:sp>
    </p:spTree>
    <p:extLst>
      <p:ext uri="{BB962C8B-B14F-4D97-AF65-F5344CB8AC3E}">
        <p14:creationId xmlns:p14="http://schemas.microsoft.com/office/powerpoint/2010/main" val="256624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295F7-C8E5-4164-9348-E1B7D0640511}"/>
              </a:ext>
            </a:extLst>
          </p:cNvPr>
          <p:cNvSpPr>
            <a:spLocks noGrp="1"/>
          </p:cNvSpPr>
          <p:nvPr>
            <p:ph type="title"/>
          </p:nvPr>
        </p:nvSpPr>
        <p:spPr/>
        <p:txBody>
          <a:bodyPr/>
          <a:lstStyle/>
          <a:p>
            <a:r>
              <a:rPr lang="en-US"/>
              <a:t>Results</a:t>
            </a:r>
            <a:endParaRPr lang="en-US" dirty="0"/>
          </a:p>
        </p:txBody>
      </p:sp>
      <p:sp>
        <p:nvSpPr>
          <p:cNvPr id="3" name="Content Placeholder 2">
            <a:extLst>
              <a:ext uri="{FF2B5EF4-FFF2-40B4-BE49-F238E27FC236}">
                <a16:creationId xmlns:a16="http://schemas.microsoft.com/office/drawing/2014/main" id="{C2A3D717-1E8E-4238-BFFD-F599A50DB3BA}"/>
              </a:ext>
            </a:extLst>
          </p:cNvPr>
          <p:cNvSpPr>
            <a:spLocks noGrp="1"/>
          </p:cNvSpPr>
          <p:nvPr>
            <p:ph idx="1"/>
          </p:nvPr>
        </p:nvSpPr>
        <p:spPr>
          <a:xfrm>
            <a:off x="1115568" y="1782374"/>
            <a:ext cx="4849134" cy="3689958"/>
          </a:xfrm>
        </p:spPr>
        <p:txBody>
          <a:bodyPr>
            <a:normAutofit fontScale="92500"/>
          </a:bodyPr>
          <a:lstStyle/>
          <a:p>
            <a:r>
              <a:rPr lang="en-US" dirty="0"/>
              <a:t>The Twin Cities Metro Area has 142 cities</a:t>
            </a:r>
          </a:p>
          <a:p>
            <a:r>
              <a:rPr lang="en-US" dirty="0"/>
              <a:t>The cities can be clustered in 6 clusters</a:t>
            </a:r>
          </a:p>
          <a:p>
            <a:r>
              <a:rPr lang="en-US" dirty="0"/>
              <a:t>The cluster that has the most breweries has 94 includes cities (shown in the map)</a:t>
            </a:r>
          </a:p>
        </p:txBody>
      </p:sp>
      <p:pic>
        <p:nvPicPr>
          <p:cNvPr id="4" name="Picture 3">
            <a:extLst>
              <a:ext uri="{FF2B5EF4-FFF2-40B4-BE49-F238E27FC236}">
                <a16:creationId xmlns:a16="http://schemas.microsoft.com/office/drawing/2014/main" id="{810BE90E-04D2-48F3-805F-DC03CCCA4E08}"/>
              </a:ext>
            </a:extLst>
          </p:cNvPr>
          <p:cNvPicPr/>
          <p:nvPr/>
        </p:nvPicPr>
        <p:blipFill>
          <a:blip r:embed="rId2"/>
          <a:stretch>
            <a:fillRect/>
          </a:stretch>
        </p:blipFill>
        <p:spPr>
          <a:xfrm>
            <a:off x="5964702" y="1782374"/>
            <a:ext cx="5943600" cy="3557270"/>
          </a:xfrm>
          <a:prstGeom prst="rect">
            <a:avLst/>
          </a:prstGeom>
        </p:spPr>
      </p:pic>
      <p:sp>
        <p:nvSpPr>
          <p:cNvPr id="6" name="Rectangle 5">
            <a:extLst>
              <a:ext uri="{FF2B5EF4-FFF2-40B4-BE49-F238E27FC236}">
                <a16:creationId xmlns:a16="http://schemas.microsoft.com/office/drawing/2014/main" id="{F88441A4-5B09-4BA7-BDC0-EC4ED13A9FB2}"/>
              </a:ext>
            </a:extLst>
          </p:cNvPr>
          <p:cNvSpPr/>
          <p:nvPr/>
        </p:nvSpPr>
        <p:spPr>
          <a:xfrm>
            <a:off x="1115568" y="5389836"/>
            <a:ext cx="10792734" cy="879408"/>
          </a:xfrm>
          <a:prstGeom prst="rect">
            <a:avLst/>
          </a:prstGeom>
        </p:spPr>
        <p:txBody>
          <a:bodyPr wrap="square">
            <a:spAutoFit/>
          </a:bodyPr>
          <a:lstStyle/>
          <a:p>
            <a:pPr marL="228600" lvl="0" indent="-228600">
              <a:lnSpc>
                <a:spcPct val="110000"/>
              </a:lnSpc>
              <a:spcBef>
                <a:spcPts val="1000"/>
              </a:spcBef>
              <a:buFont typeface="Arial" panose="020B0604020202020204" pitchFamily="34" charset="0"/>
              <a:buChar char="•"/>
            </a:pPr>
            <a:r>
              <a:rPr lang="en-US" sz="2400" dirty="0">
                <a:solidFill>
                  <a:srgbClr val="000000"/>
                </a:solidFill>
              </a:rPr>
              <a:t>79 of those cities do not have a brewery (shown in blue vs the ones that have, shown in red) and are good candidates for further investigation </a:t>
            </a:r>
          </a:p>
        </p:txBody>
      </p:sp>
    </p:spTree>
    <p:extLst>
      <p:ext uri="{BB962C8B-B14F-4D97-AF65-F5344CB8AC3E}">
        <p14:creationId xmlns:p14="http://schemas.microsoft.com/office/powerpoint/2010/main" val="1040431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35134-557D-46FE-B232-D06CA481BE7A}"/>
              </a:ext>
            </a:extLst>
          </p:cNvPr>
          <p:cNvSpPr>
            <a:spLocks noGrp="1"/>
          </p:cNvSpPr>
          <p:nvPr>
            <p:ph type="title"/>
          </p:nvPr>
        </p:nvSpPr>
        <p:spPr/>
        <p:txBody>
          <a:bodyPr/>
          <a:lstStyle/>
          <a:p>
            <a:r>
              <a:rPr lang="en-US" dirty="0"/>
              <a:t>Conclusions and Further Directions</a:t>
            </a:r>
          </a:p>
        </p:txBody>
      </p:sp>
      <p:sp>
        <p:nvSpPr>
          <p:cNvPr id="3" name="Content Placeholder 2">
            <a:extLst>
              <a:ext uri="{FF2B5EF4-FFF2-40B4-BE49-F238E27FC236}">
                <a16:creationId xmlns:a16="http://schemas.microsoft.com/office/drawing/2014/main" id="{49A43284-AF24-47DD-8CED-19FB8D966B74}"/>
              </a:ext>
            </a:extLst>
          </p:cNvPr>
          <p:cNvSpPr>
            <a:spLocks noGrp="1"/>
          </p:cNvSpPr>
          <p:nvPr>
            <p:ph idx="1"/>
          </p:nvPr>
        </p:nvSpPr>
        <p:spPr>
          <a:xfrm>
            <a:off x="1115568" y="1782373"/>
            <a:ext cx="10168128" cy="4674697"/>
          </a:xfrm>
        </p:spPr>
        <p:txBody>
          <a:bodyPr>
            <a:normAutofit fontScale="77500" lnSpcReduction="20000"/>
          </a:bodyPr>
          <a:lstStyle/>
          <a:p>
            <a:r>
              <a:rPr lang="en-US" dirty="0"/>
              <a:t>The business goal for this project was to identify cities in the Twin Cities Metro that could be good candidates to host the new brewery</a:t>
            </a:r>
          </a:p>
          <a:p>
            <a:r>
              <a:rPr lang="en-US" dirty="0"/>
              <a:t>Through this analysis I successfully reduced the number of potential cities by </a:t>
            </a:r>
            <a:r>
              <a:rPr lang="en-US" b="1" dirty="0"/>
              <a:t>44%. </a:t>
            </a:r>
          </a:p>
          <a:p>
            <a:r>
              <a:rPr lang="en-US" dirty="0"/>
              <a:t>In order to get more specific recommendations we might need a more complex clustering algorithm or a different machine learning approach, such as supervised learning. </a:t>
            </a:r>
          </a:p>
          <a:p>
            <a:r>
              <a:rPr lang="en-US" dirty="0"/>
              <a:t>Alternatively we can look at incorporating more data that describe the cities (population, income per capita, education, age) that might lead to a more predictive model. </a:t>
            </a:r>
          </a:p>
          <a:p>
            <a:r>
              <a:rPr lang="en-US" dirty="0"/>
              <a:t>Finally I would recommend adding some data for the success of each brewery ( sales, investment, beer production, twitter mentions </a:t>
            </a:r>
            <a:r>
              <a:rPr lang="en-US" dirty="0" err="1"/>
              <a:t>etc</a:t>
            </a:r>
            <a:r>
              <a:rPr lang="en-US" dirty="0"/>
              <a:t>) to inform the model on what a successful brewery looks like.</a:t>
            </a:r>
          </a:p>
        </p:txBody>
      </p:sp>
    </p:spTree>
    <p:extLst>
      <p:ext uri="{BB962C8B-B14F-4D97-AF65-F5344CB8AC3E}">
        <p14:creationId xmlns:p14="http://schemas.microsoft.com/office/powerpoint/2010/main" val="2810370225"/>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19</TotalTime>
  <Words>490</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Avenir Next LT Pro</vt:lpstr>
      <vt:lpstr>Calibri</vt:lpstr>
      <vt:lpstr>AccentBoxVTI</vt:lpstr>
      <vt:lpstr>What’s the best place for the next brewery?</vt:lpstr>
      <vt:lpstr>Business Case</vt:lpstr>
      <vt:lpstr>Background</vt:lpstr>
      <vt:lpstr>Data</vt:lpstr>
      <vt:lpstr>Methodology</vt:lpstr>
      <vt:lpstr>Results</vt:lpstr>
      <vt:lpstr>Conclusions and Further Directions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the best place for the next brewery?</dc:title>
  <dc:creator>Giota Kyriakou</dc:creator>
  <cp:lastModifiedBy>Giota Kyriakou</cp:lastModifiedBy>
  <cp:revision>5</cp:revision>
  <dcterms:created xsi:type="dcterms:W3CDTF">2020-06-10T04:21:22Z</dcterms:created>
  <dcterms:modified xsi:type="dcterms:W3CDTF">2020-06-14T19:05:15Z</dcterms:modified>
</cp:coreProperties>
</file>